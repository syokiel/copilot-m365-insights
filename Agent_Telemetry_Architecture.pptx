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4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4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821"/>
  </p:normalViewPr>
  <p:slideViewPr>
    <p:cSldViewPr snapToGrid="0">
      <p:cViewPr varScale="1">
        <p:scale>
          <a:sx n="104" d="100"/>
          <a:sy n="104" d="100"/>
        </p:scale>
        <p:origin x="240" y="1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88BF3-2B60-1F42-ACCD-49F737A17192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15A95-F53D-384E-A755-B2931D29B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54D7-F0B1-A74F-4749-DED42737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D5A5D-6AF2-972C-8F1A-BA0C82F29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152B-F749-F1D3-244D-16C2BFC2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85376-0DD1-2B80-1C0B-51CC52E0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0DBFE-2F3A-0C2D-1FD1-0FC5B8C80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2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8D2F-2A02-8C5D-EE99-5894AFFE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B338-58A3-4B07-1A33-29E835CB8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7493-11CB-0028-DAE2-13130BD2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B557-6DD2-E690-D934-6D334DDD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2647C-11FA-D0CF-D10A-134DD8C2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8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079E-C07A-45D7-6D05-4F3E1685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4EF8B-916F-EC2E-98B3-1DA549A1A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7F0C-A400-0431-DA86-A5B5C40C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1DB2B-1F94-54B9-E805-1E480D981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9AA6D-9051-27F1-CE93-67B8027A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3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2610-9C39-2983-9691-2A9B5BE3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4A6F-F8A1-A9E0-0D79-54828A7B2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5B554-A388-BBC0-44A7-9F90E0745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E6119-0058-2701-1A12-AD2F0DB6A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FB4DD-AC99-2195-9EE6-D7856CA5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87B85-1CB9-44A5-4998-D806A7F7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0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ABC8-71AB-CCBF-8028-1A705D152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C97FC-5D19-2709-38F0-759288DE4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39966-245D-1C73-9CA8-9540AB84B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50A67-0770-5DAA-05D4-93D248DC8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85F1CD-2426-63C5-B033-3F0D3F295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8297B5-E904-09BB-588D-3A8DAFF2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B8D6F5-B8BD-405C-B979-CF2FDB86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1E855-5092-343C-70F9-F0B5B32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9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9562-EB52-731F-FFC2-828E749D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2ED09-AA9C-38A3-85CB-226ADF6F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9EA26-493D-D061-95AD-1C655D78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25FF6-2D3A-6DE5-9C0B-11D6F963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0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AC9DC0-F000-72DF-8AA8-1E984037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CC7E9-1485-D56E-C256-4CD77972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F9EF1-2311-9275-8E2F-E230123D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2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DC78-34F5-275B-8232-4F891CA9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B803-9865-F87F-C1FA-E709A720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C2657-B627-52D2-C153-862C7CE9B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CC4EB-C84B-8E46-536E-BF2659188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6CDB1-F95E-6AAE-E163-8D6825A6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CC040-EC8B-25D8-8349-9CB8A24E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2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C3C5-AE52-BB0A-3DD1-3850B175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85186-9E79-3C7D-196D-21F7A6858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217B5-F908-C05F-E013-8734BC261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89FBA-46F9-0BC4-A44A-D5261A37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AC7E6-C864-642E-3EBB-DC5D4E5B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1D3E5-AF49-2DA6-0834-70657740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2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1C71-D20E-BD5B-5B3C-72DF6D22C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A8EB5-955A-9611-BC1D-F8807DCC4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6547C-67B1-0148-D271-8D1489BA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29892-B8A0-F4E3-3B48-46DD43D6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43685-13BF-BA7F-6602-660E77D8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8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C44EE-4442-47EC-D32B-AEFA4FAED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D840C-E924-03C5-0E63-216B01360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D1885-2439-2F0E-1BA4-D9FA1B25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5950C-9D99-7EC1-6E20-AFA51EE5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CC7FE-29EE-E40F-8506-98DEA615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7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C7D4B6-9211-6FD1-855B-7782C223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347EC-07DA-FF61-AE88-F1A7DEFC2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01D5C-DBBE-7A24-4671-D9270CDBD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19484-7039-7549-B71A-45F777D7A379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3C91A-2924-889B-B808-0A992F02C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4097-43FA-11E9-DCC3-7BDECB6C9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BDCAB-3B28-F140-A71B-8CA4BB59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5F8A-4249-7F8C-A189-02EE32AC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F32C1DE0-BD5F-7A4B-D5D1-E5490341D0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993"/>
            <a:ext cx="12192000" cy="686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CE0B70-F70C-8643-669A-0E4F79D1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76" y="4390022"/>
            <a:ext cx="388095" cy="38809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00EC6F4-7710-CBDF-1F6B-8A3D8D49678A}"/>
              </a:ext>
            </a:extLst>
          </p:cNvPr>
          <p:cNvSpPr txBox="1"/>
          <p:nvPr/>
        </p:nvSpPr>
        <p:spPr>
          <a:xfrm>
            <a:off x="1322726" y="4363895"/>
            <a:ext cx="2832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* Resource group: rgWorkTest_west2</a:t>
            </a:r>
          </a:p>
          <a:p>
            <a:r>
              <a:rPr lang="en-US" sz="1200" dirty="0"/>
              <a:t>* Region: West US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7F3E70-BE73-8636-E3F2-151EFAF4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39" y="4830770"/>
            <a:ext cx="2945049" cy="412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22643A-EA58-F66F-C2E0-697BB3B57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866" y="5187544"/>
            <a:ext cx="2929467" cy="5064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9449296-289A-3E1C-717E-3A11A2224D59}"/>
              </a:ext>
            </a:extLst>
          </p:cNvPr>
          <p:cNvSpPr txBox="1"/>
          <p:nvPr/>
        </p:nvSpPr>
        <p:spPr>
          <a:xfrm>
            <a:off x="5780759" y="3485124"/>
            <a:ext cx="40717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.</a:t>
            </a:r>
            <a:r>
              <a:rPr lang="en-US" sz="1000" dirty="0" err="1"/>
              <a:t>venv</a:t>
            </a:r>
            <a:r>
              <a:rPr lang="en-US" sz="1000" dirty="0"/>
              <a:t>/bin/python -m </a:t>
            </a:r>
            <a:r>
              <a:rPr lang="en-US" sz="1000" dirty="0" err="1"/>
              <a:t>src.main</a:t>
            </a:r>
            <a:r>
              <a:rPr lang="en-US" sz="1000" dirty="0"/>
              <a:t> all # fetch + upload </a:t>
            </a:r>
            <a:r>
              <a:rPr lang="en-US" sz="1000" dirty="0" err="1"/>
              <a:t>db</a:t>
            </a:r>
            <a:r>
              <a:rPr lang="en-US" sz="1000" dirty="0"/>
              <a:t> &amp; generate excel</a:t>
            </a:r>
          </a:p>
          <a:p>
            <a:r>
              <a:rPr lang="en-US" sz="1000" dirty="0"/>
              <a:t>.</a:t>
            </a:r>
            <a:r>
              <a:rPr lang="en-US" sz="1000" dirty="0" err="1"/>
              <a:t>venv</a:t>
            </a:r>
            <a:r>
              <a:rPr lang="en-US" sz="1000" dirty="0"/>
              <a:t>/bin/python -m </a:t>
            </a:r>
            <a:r>
              <a:rPr lang="en-US" sz="1000" dirty="0" err="1"/>
              <a:t>src.main</a:t>
            </a:r>
            <a:r>
              <a:rPr lang="en-US" sz="1000" dirty="0"/>
              <a:t> sync    # fetch + upload </a:t>
            </a:r>
            <a:r>
              <a:rPr lang="en-US" sz="1000" dirty="0" err="1"/>
              <a:t>db</a:t>
            </a:r>
            <a:endParaRPr lang="en-US" sz="1000" dirty="0"/>
          </a:p>
          <a:p>
            <a:r>
              <a:rPr lang="en-US" sz="1000" dirty="0"/>
              <a:t>.</a:t>
            </a:r>
            <a:r>
              <a:rPr lang="en-US" sz="1000" dirty="0" err="1"/>
              <a:t>venv</a:t>
            </a:r>
            <a:r>
              <a:rPr lang="en-US" sz="1000" dirty="0"/>
              <a:t>/bin/python -m </a:t>
            </a:r>
            <a:r>
              <a:rPr lang="en-US" sz="1000" dirty="0" err="1"/>
              <a:t>src.main</a:t>
            </a:r>
            <a:r>
              <a:rPr lang="en-US" sz="1000" dirty="0"/>
              <a:t> export  # generate excel from local </a:t>
            </a:r>
            <a:r>
              <a:rPr lang="en-US" sz="1000" dirty="0" err="1"/>
              <a:t>db</a:t>
            </a:r>
            <a:endParaRPr lang="en-US" sz="1000" dirty="0"/>
          </a:p>
        </p:txBody>
      </p:sp>
      <p:pic>
        <p:nvPicPr>
          <p:cNvPr id="1026" name="Picture 2" descr="Python Logo, Icon, Sign, Emblem, Badge PNG">
            <a:extLst>
              <a:ext uri="{FF2B5EF4-FFF2-40B4-BE49-F238E27FC236}">
                <a16:creationId xmlns:a16="http://schemas.microsoft.com/office/drawing/2014/main" id="{ED09369E-C943-839E-4A89-C4862E6E6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411" y="3474962"/>
            <a:ext cx="8890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xcel Icon, Excel File Emblem, Microsoft Excel Symbol, Office ...">
            <a:extLst>
              <a:ext uri="{FF2B5EF4-FFF2-40B4-BE49-F238E27FC236}">
                <a16:creationId xmlns:a16="http://schemas.microsoft.com/office/drawing/2014/main" id="{CE34F01C-E180-358F-3957-0AAFE4933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761" y="5692332"/>
            <a:ext cx="615461" cy="61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A4A24F-6C22-545F-00AC-88ECAF3B4B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8780" y="5372582"/>
            <a:ext cx="1849167" cy="101522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8C76389-EEA3-E43A-3556-0F70CA8701BC}"/>
              </a:ext>
            </a:extLst>
          </p:cNvPr>
          <p:cNvSpPr txBox="1"/>
          <p:nvPr/>
        </p:nvSpPr>
        <p:spPr>
          <a:xfrm>
            <a:off x="1362186" y="6516314"/>
            <a:ext cx="100558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effectLst/>
                <a:latin typeface="-apple-system"/>
              </a:rPr>
              <a:t>Copilot Studio agent → Application Insights → Log Analytics workspace → KQL queries → Python → </a:t>
            </a:r>
            <a:r>
              <a:rPr lang="en-US" sz="1600" dirty="0">
                <a:solidFill>
                  <a:srgbClr val="FF0000"/>
                </a:solidFill>
                <a:latin typeface="-apple-system"/>
              </a:rPr>
              <a:t>SQLite → </a:t>
            </a:r>
            <a:r>
              <a:rPr lang="en-US" sz="1600" i="0" dirty="0">
                <a:solidFill>
                  <a:srgbClr val="FF0000"/>
                </a:solidFill>
                <a:effectLst/>
                <a:latin typeface="-apple-system"/>
              </a:rPr>
              <a:t>Excel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9BD92C-23B9-9657-3091-BA2DAC6B8DBE}"/>
              </a:ext>
            </a:extLst>
          </p:cNvPr>
          <p:cNvCxnSpPr/>
          <p:nvPr/>
        </p:nvCxnSpPr>
        <p:spPr>
          <a:xfrm flipH="1">
            <a:off x="681212" y="3338374"/>
            <a:ext cx="10412295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6">
            <a:extLst>
              <a:ext uri="{FF2B5EF4-FFF2-40B4-BE49-F238E27FC236}">
                <a16:creationId xmlns:a16="http://schemas.microsoft.com/office/drawing/2014/main" id="{58A6499A-4871-F544-E94D-82FC8A7B7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317" y="4373882"/>
            <a:ext cx="574348" cy="57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Group of men with solid fill">
            <a:extLst>
              <a:ext uri="{FF2B5EF4-FFF2-40B4-BE49-F238E27FC236}">
                <a16:creationId xmlns:a16="http://schemas.microsoft.com/office/drawing/2014/main" id="{58FC432F-E8C0-1630-1BA7-0F24F1C1B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93507" y="4745816"/>
            <a:ext cx="914400" cy="914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B18D5F-C542-A40C-7716-0F2E85AEEBFB}"/>
              </a:ext>
            </a:extLst>
          </p:cNvPr>
          <p:cNvCxnSpPr>
            <a:cxnSpLocks/>
          </p:cNvCxnSpPr>
          <p:nvPr/>
        </p:nvCxnSpPr>
        <p:spPr>
          <a:xfrm>
            <a:off x="8418763" y="5825142"/>
            <a:ext cx="26085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97B7BF-56FB-6110-EB05-4F07A4D39DC1}"/>
              </a:ext>
            </a:extLst>
          </p:cNvPr>
          <p:cNvCxnSpPr>
            <a:cxnSpLocks/>
          </p:cNvCxnSpPr>
          <p:nvPr/>
        </p:nvCxnSpPr>
        <p:spPr>
          <a:xfrm>
            <a:off x="5705492" y="3741199"/>
            <a:ext cx="0" cy="35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736C22-C360-07B7-DA9B-9BB98D0CD1FA}"/>
              </a:ext>
            </a:extLst>
          </p:cNvPr>
          <p:cNvCxnSpPr>
            <a:cxnSpLocks/>
          </p:cNvCxnSpPr>
          <p:nvPr/>
        </p:nvCxnSpPr>
        <p:spPr>
          <a:xfrm>
            <a:off x="5705491" y="5162268"/>
            <a:ext cx="0" cy="420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1BEEC6-5DB3-51C1-DA76-C8B518009A40}"/>
              </a:ext>
            </a:extLst>
          </p:cNvPr>
          <p:cNvGrpSpPr/>
          <p:nvPr/>
        </p:nvGrpSpPr>
        <p:grpSpPr>
          <a:xfrm>
            <a:off x="8387631" y="4454727"/>
            <a:ext cx="907181" cy="631631"/>
            <a:chOff x="3930790" y="4177501"/>
            <a:chExt cx="907181" cy="631631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27497FCE-6AA5-4EFA-165B-E295857F5B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4067" y="4177501"/>
              <a:ext cx="420628" cy="420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91EF92-3A34-0426-9250-F46BFB810D26}"/>
                </a:ext>
              </a:extLst>
            </p:cNvPr>
            <p:cNvSpPr txBox="1"/>
            <p:nvPr/>
          </p:nvSpPr>
          <p:spPr>
            <a:xfrm>
              <a:off x="3930790" y="4558418"/>
              <a:ext cx="907181" cy="2507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MCP Server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0E3B5BA-62A6-FEFA-A8F5-BA81977407AC}"/>
              </a:ext>
            </a:extLst>
          </p:cNvPr>
          <p:cNvSpPr/>
          <p:nvPr/>
        </p:nvSpPr>
        <p:spPr>
          <a:xfrm>
            <a:off x="970683" y="1245384"/>
            <a:ext cx="1367719" cy="674679"/>
          </a:xfrm>
          <a:prstGeom prst="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Agent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AE26D0F-46D9-04AB-6A25-1B58804B1952}"/>
              </a:ext>
            </a:extLst>
          </p:cNvPr>
          <p:cNvCxnSpPr>
            <a:cxnSpLocks/>
          </p:cNvCxnSpPr>
          <p:nvPr/>
        </p:nvCxnSpPr>
        <p:spPr>
          <a:xfrm>
            <a:off x="1578018" y="1985707"/>
            <a:ext cx="0" cy="681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C2BE1D2-5F88-C91B-25A5-5FF5055CED0A}"/>
              </a:ext>
            </a:extLst>
          </p:cNvPr>
          <p:cNvSpPr/>
          <p:nvPr/>
        </p:nvSpPr>
        <p:spPr>
          <a:xfrm>
            <a:off x="2661161" y="1241832"/>
            <a:ext cx="1308529" cy="674679"/>
          </a:xfrm>
          <a:prstGeom prst="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Agent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8D2F925-8329-DAD2-76BE-AFD1DE4B76C6}"/>
              </a:ext>
            </a:extLst>
          </p:cNvPr>
          <p:cNvCxnSpPr>
            <a:cxnSpLocks/>
          </p:cNvCxnSpPr>
          <p:nvPr/>
        </p:nvCxnSpPr>
        <p:spPr>
          <a:xfrm flipH="1">
            <a:off x="1885083" y="2015693"/>
            <a:ext cx="915114" cy="800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81FE0EE-C1CC-4E43-89FA-6C015D7E722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5216"/>
          <a:stretch>
            <a:fillRect/>
          </a:stretch>
        </p:blipFill>
        <p:spPr>
          <a:xfrm>
            <a:off x="4792674" y="946334"/>
            <a:ext cx="5453172" cy="22884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F19B47-A098-7B51-6036-926F595AD5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0094" y="4121379"/>
            <a:ext cx="1008035" cy="11752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6AF7EAC-00D6-CA9A-830D-02D2A7BD01B3}"/>
              </a:ext>
            </a:extLst>
          </p:cNvPr>
          <p:cNvSpPr txBox="1"/>
          <p:nvPr/>
        </p:nvSpPr>
        <p:spPr>
          <a:xfrm>
            <a:off x="1689404" y="2942716"/>
            <a:ext cx="317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>
                <a:solidFill>
                  <a:srgbClr val="0070C0"/>
                </a:solidFill>
              </a:rPr>
              <a:t>Microsoft Secured Endpoint</a:t>
            </a:r>
          </a:p>
        </p:txBody>
      </p:sp>
      <p:pic>
        <p:nvPicPr>
          <p:cNvPr id="37" name="Graphic 36" descr="Network with solid fill">
            <a:extLst>
              <a:ext uri="{FF2B5EF4-FFF2-40B4-BE49-F238E27FC236}">
                <a16:creationId xmlns:a16="http://schemas.microsoft.com/office/drawing/2014/main" id="{CACF8F70-F89A-688A-86D1-D1807A10A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9291" y="2596456"/>
            <a:ext cx="914400" cy="91440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C03B43-E5DA-7778-01AD-8C15CBF85D53}"/>
              </a:ext>
            </a:extLst>
          </p:cNvPr>
          <p:cNvCxnSpPr>
            <a:cxnSpLocks/>
          </p:cNvCxnSpPr>
          <p:nvPr/>
        </p:nvCxnSpPr>
        <p:spPr>
          <a:xfrm>
            <a:off x="2204304" y="3441962"/>
            <a:ext cx="0" cy="897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ight Brace 48">
            <a:extLst>
              <a:ext uri="{FF2B5EF4-FFF2-40B4-BE49-F238E27FC236}">
                <a16:creationId xmlns:a16="http://schemas.microsoft.com/office/drawing/2014/main" id="{1FC671C1-1783-FEC2-5036-0761F28D50B1}"/>
              </a:ext>
            </a:extLst>
          </p:cNvPr>
          <p:cNvSpPr/>
          <p:nvPr/>
        </p:nvSpPr>
        <p:spPr>
          <a:xfrm>
            <a:off x="4287136" y="4097896"/>
            <a:ext cx="527204" cy="193662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45308E-C485-0EF6-4DAD-6F1D2DA3817A}"/>
              </a:ext>
            </a:extLst>
          </p:cNvPr>
          <p:cNvCxnSpPr>
            <a:cxnSpLocks/>
          </p:cNvCxnSpPr>
          <p:nvPr/>
        </p:nvCxnSpPr>
        <p:spPr>
          <a:xfrm flipV="1">
            <a:off x="9338125" y="4661056"/>
            <a:ext cx="1689193" cy="4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C98266C-9362-8A31-E553-64731AEB6C0E}"/>
              </a:ext>
            </a:extLst>
          </p:cNvPr>
          <p:cNvSpPr txBox="1"/>
          <p:nvPr/>
        </p:nvSpPr>
        <p:spPr>
          <a:xfrm>
            <a:off x="10245846" y="1800855"/>
            <a:ext cx="176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Simple 1 line update to Copilot Studio Agent.</a:t>
            </a:r>
            <a:br>
              <a:rPr lang="en-US" sz="1200" dirty="0"/>
            </a:br>
            <a:r>
              <a:rPr lang="en-US" sz="1200" dirty="0"/>
              <a:t>(Can be scripted)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7438D4A-3D7A-3618-310E-F6865981C6F2}"/>
              </a:ext>
            </a:extLst>
          </p:cNvPr>
          <p:cNvCxnSpPr/>
          <p:nvPr/>
        </p:nvCxnSpPr>
        <p:spPr>
          <a:xfrm>
            <a:off x="7948480" y="4678365"/>
            <a:ext cx="4391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" descr="Excel Icon, Excel File Emblem, Microsoft Excel Symbol, Office ...">
            <a:extLst>
              <a:ext uri="{FF2B5EF4-FFF2-40B4-BE49-F238E27FC236}">
                <a16:creationId xmlns:a16="http://schemas.microsoft.com/office/drawing/2014/main" id="{66800037-923E-833F-9ACC-80A4A49C7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144" y="5488902"/>
            <a:ext cx="615461" cy="61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0EA635D-19DD-E509-9A07-4D745EE7AEA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8683" t="62575" r="27395" b="5188"/>
          <a:stretch>
            <a:fillRect/>
          </a:stretch>
        </p:blipFill>
        <p:spPr>
          <a:xfrm>
            <a:off x="9782085" y="4327252"/>
            <a:ext cx="767578" cy="823126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6267B08D-E58E-10F8-6629-91751D0A3A54}"/>
              </a:ext>
            </a:extLst>
          </p:cNvPr>
          <p:cNvSpPr txBox="1"/>
          <p:nvPr/>
        </p:nvSpPr>
        <p:spPr>
          <a:xfrm>
            <a:off x="127542" y="113446"/>
            <a:ext cx="11306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Simple Telemetry Solution for Copilot Studio Low Code Agents</a:t>
            </a:r>
          </a:p>
        </p:txBody>
      </p:sp>
    </p:spTree>
    <p:extLst>
      <p:ext uri="{BB962C8B-B14F-4D97-AF65-F5344CB8AC3E}">
        <p14:creationId xmlns:p14="http://schemas.microsoft.com/office/powerpoint/2010/main" val="214208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BDE2-7D68-1955-495E-9DC47B14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0819B0-E4C7-D5E5-06CD-E618994B8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87" y="908808"/>
            <a:ext cx="6629229" cy="52754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EDDE80-EB21-F641-2A0B-91E387EC2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606" y="1295338"/>
            <a:ext cx="1659309" cy="27712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D2ECA0-8A27-8FC9-4F16-3EAA17119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764" y="1228537"/>
            <a:ext cx="1850632" cy="351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36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6348</TotalTime>
  <Words>120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-apple-system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Yokiel</dc:creator>
  <cp:lastModifiedBy>Scott Yokiel</cp:lastModifiedBy>
  <cp:revision>23</cp:revision>
  <dcterms:created xsi:type="dcterms:W3CDTF">2025-05-27T14:25:56Z</dcterms:created>
  <dcterms:modified xsi:type="dcterms:W3CDTF">2026-05-15T14:04:07Z</dcterms:modified>
</cp:coreProperties>
</file>